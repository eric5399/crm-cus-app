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321ff224a3403d" /><Relationship Type="http://schemas.openxmlformats.org/officeDocument/2006/relationships/extended-properties" Target="/docProps/app.xml" Id="R2204f8789a854288" /><Relationship Type="http://schemas.openxmlformats.org/officeDocument/2006/relationships/officeDocument" Target="/ppt/presentation.xml" Id="Re9bf1834f616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2da097ed5b4b9d"/>
  </p:sldMasterIdLst>
  <p:notesMasterIdLst>
    <p:notesMasterId xmlns:r="http://schemas.openxmlformats.org/officeDocument/2006/relationships" r:id="R09333d7b19064733"/>
  </p:notesMasterIdLst>
  <p:sldIdLst>
    <p:sldId xmlns:r="http://schemas.openxmlformats.org/officeDocument/2006/relationships" id="256" r:id="R588a7ce690004e4d"/>
    <p:sldId xmlns:r="http://schemas.openxmlformats.org/officeDocument/2006/relationships" id="257" r:id="R4180327b081a46ba"/>
    <p:sldId xmlns:r="http://schemas.openxmlformats.org/officeDocument/2006/relationships" id="258" r:id="R00be42b3bddd41cc"/>
    <p:sldId xmlns:r="http://schemas.openxmlformats.org/officeDocument/2006/relationships" id="259" r:id="R505f48d08c2c4a6e"/>
    <p:sldId xmlns:r="http://schemas.openxmlformats.org/officeDocument/2006/relationships" id="260" r:id="Ra1dcd37123bb4a25"/>
    <p:sldId xmlns:r="http://schemas.openxmlformats.org/officeDocument/2006/relationships" id="261" r:id="R27e56852540a4d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da097ed5b4b9d" /><Relationship Type="http://schemas.openxmlformats.org/officeDocument/2006/relationships/theme" Target="/ppt/theme/theme1.xml" Id="R543531c8b731432c" /><Relationship Type="http://schemas.openxmlformats.org/officeDocument/2006/relationships/notesMaster" Target="/ppt/notesMasters/notesMaster1.xml" Id="R09333d7b19064733" /><Relationship Type="http://schemas.openxmlformats.org/officeDocument/2006/relationships/presProps" Target="/ppt/presProps.xml" Id="R5e35bb6c2ad94c56" /><Relationship Type="http://schemas.openxmlformats.org/officeDocument/2006/relationships/viewProps" Target="/ppt/viewProps.xml" Id="R9e2cb61a5f284058" /><Relationship Type="http://schemas.openxmlformats.org/officeDocument/2006/relationships/tableStyles" Target="/ppt/tableStyles.xml" Id="Re2a9b772444f419d" /><Relationship Type="http://schemas.openxmlformats.org/officeDocument/2006/relationships/slide" Target="/ppt/slides/slide1.xml" Id="R588a7ce690004e4d" /><Relationship Type="http://schemas.openxmlformats.org/officeDocument/2006/relationships/slide" Target="/ppt/slides/slide2.xml" Id="R4180327b081a46ba" /><Relationship Type="http://schemas.openxmlformats.org/officeDocument/2006/relationships/slide" Target="/ppt/slides/slide3.xml" Id="R00be42b3bddd41cc" /><Relationship Type="http://schemas.openxmlformats.org/officeDocument/2006/relationships/slide" Target="/ppt/slides/slide4.xml" Id="R505f48d08c2c4a6e" /><Relationship Type="http://schemas.openxmlformats.org/officeDocument/2006/relationships/slide" Target="/ppt/slides/slide5.xml" Id="Ra1dcd37123bb4a25" /><Relationship Type="http://schemas.openxmlformats.org/officeDocument/2006/relationships/slide" Target="/ppt/slides/slide6.xml" Id="R27e56852540a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dcb605cac06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f25e112ad4faf" /><Relationship Type="http://schemas.openxmlformats.org/officeDocument/2006/relationships/notesMaster" Target="/ppt/notesMasters/notesMaster1.xml" Id="R16ac530c6db7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7c4dc3774c417c" /><Relationship Type="http://schemas.openxmlformats.org/officeDocument/2006/relationships/notesMaster" Target="/ppt/notesMasters/notesMaster1.xml" Id="R0c9343008ac547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9786f4616426a" /><Relationship Type="http://schemas.openxmlformats.org/officeDocument/2006/relationships/notesMaster" Target="/ppt/notesMasters/notesMaster1.xml" Id="R3d25324b63a842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2f8177b068461e" /><Relationship Type="http://schemas.openxmlformats.org/officeDocument/2006/relationships/notesMaster" Target="/ppt/notesMasters/notesMaster1.xml" Id="R4f8ee35673c2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cf32b6585344e2" /><Relationship Type="http://schemas.openxmlformats.org/officeDocument/2006/relationships/notesMaster" Target="/ppt/notesMasters/notesMaster1.xml" Id="R278149fc7da044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b375bc6af4601" /><Relationship Type="http://schemas.openxmlformats.org/officeDocument/2006/relationships/notesMaster" Target="/ppt/notesMasters/notesMaster1.xml" Id="R4ca9974dcc3347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741aaa1234b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fdc7e8810e41e1" /><Relationship Type="http://schemas.openxmlformats.org/officeDocument/2006/relationships/slideLayout" Target="/ppt/slideLayouts/slideLayout2.xml" Id="Rc40e95589b2445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e95589b2445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c3d1e2b7244f0d" /><Relationship Type="http://schemas.openxmlformats.org/officeDocument/2006/relationships/notesSlide" Target="/ppt/notesSlides/notesSlide1.xml" Id="R1942504700074d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9cc5aca08479f" /><Relationship Type="http://schemas.openxmlformats.org/officeDocument/2006/relationships/image" Target="/ppt/media/image.png" Id="R2beeaf5fe57447c8" /><Relationship Type="http://schemas.openxmlformats.org/officeDocument/2006/relationships/image" Target="/ppt/media/image2.png" Id="R59e82efe0812454c" /><Relationship Type="http://schemas.openxmlformats.org/officeDocument/2006/relationships/notesSlide" Target="/ppt/notesSlides/notesSlide2.xml" Id="R7749a730dce1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6853098d942bd" /><Relationship Type="http://schemas.openxmlformats.org/officeDocument/2006/relationships/notesSlide" Target="/ppt/notesSlides/notesSlide3.xml" Id="Rd5464ea309a54d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b94248b1044a9" /><Relationship Type="http://schemas.openxmlformats.org/officeDocument/2006/relationships/notesSlide" Target="/ppt/notesSlides/notesSlide4.xml" Id="R812825a3c6e5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5e1f0323024177" /><Relationship Type="http://schemas.openxmlformats.org/officeDocument/2006/relationships/notesSlide" Target="/ppt/notesSlides/notesSlide5.xml" Id="R698837dabd964c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acb9fecb84ac1" /><Relationship Type="http://schemas.openxmlformats.org/officeDocument/2006/relationships/image" Target="/ppt/media/image3.png" Id="Rf50438c690da4e82" /><Relationship Type="http://schemas.openxmlformats.org/officeDocument/2006/relationships/notesSlide" Target="/ppt/notesSlides/notesSlide6.xml" Id="Rae46eaa4c4d747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154E9-66DB-4FA3-AC91-75A99BF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0">
            <a:solidFill>
              <a:srgbClr val="FFF4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DEA25-DE46-4FD7-A34E-E326602F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solidFill>
              <a:srgbClr val="FF7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76F7-4EBC-439F-A8B8-71670FA0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6E6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6DDBF-1E6B-4559-AC34-2A183A9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19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A59AE-6A79-4656-933B-43EEBD5B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0B7F-5C87-4C83-92DD-44BC732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14450"/>
            <a:ext cx="8267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3282-E1A1-46F1-BABB-64755333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19200"/>
            <a:ext cx="8267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5978B-2365-4125-9985-D1183C9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954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03C67-B6B0-4D0C-95A8-3B260CDF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573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07DF1-44B4-4BEB-8745-02FE381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240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产品需求领导评审会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5D5D1-6D8E-463F-A047-F6CF11C2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43150"/>
            <a:ext cx="5543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CRM客户360</a:t>
            </a:r>
          </a:p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APP改版评审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B954D-5195-4040-A773-69BAFB4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743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以移动端客户360为核心，打通信息查询、销售转化与服务跟进，打造业务员外勤场景下的一站式客户经营入口。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06460-6B69-4F3F-B199-959F5400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48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好帮手产品组  吴文强  |  2026.05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9B7B6-6B63-408F-AAB2-A626B341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7DEF5-563A-4CD9-BFCE-08D0BE86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5+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FB7A1-A4C2-4BE1-911B-FD734185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业务员每天切换系统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74DF9-83DC-4E2D-B923-986D5060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92558-7BE0-4585-A904-E0F7396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1.5h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A706F-80FB-498E-889F-9881201F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信息搜集整合耗时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451B3-4E46-4A27-8E0A-C5362BB7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8620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03355-76B5-4207-9E54-C5CC9719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360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20C8F-5589-484D-A830-9B47DC73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客户全景视图目标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7E009-11F2-42DC-9159-884CBB01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0550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上会评审</a:t>
            </a:r>
          </a:p>
        </p:txBody>
      </p:sp>
    </p:spTree>
    <p:extLst>
      <p:ext uri="{BB962C8B-B14F-4D97-AF65-F5344CB8AC3E}">
        <p14:creationId xmlns:p14="http://schemas.microsoft.com/office/powerpoint/2010/main" val="18245459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11CFB-8DE6-4E2C-80D6-0E0C6CD2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0">
            <a:solidFill>
              <a:srgbClr val="FFF9F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57F0B-307D-44E4-8AB8-3FCD5CBD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045C2-902A-4762-B425-2A163161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6E6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B2734-363E-4EF3-89D8-2AD27E14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PART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F2013-794A-4106-9F89-4A02BBB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问题已经明确，机会窗口也很清晰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2B7A-F841-496C-B0A3-5F3D76B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业务员希望“一个页面看全客户”，行业领先产品也已验证这条路径成立。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66947-27A0-43A0-B3C7-2AD05BFC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75686-52E9-4F2C-B0A6-6FB0F60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02 / 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F30DB-5200-4E54-ACC5-1EB820EF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028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592E-869E-44AE-841A-5B36812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028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ED37A-822C-4FDB-AD9C-6B63A0BC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项目背景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8A71A-BDE4-48D3-9B96-97202EDB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现有CRM APP客户档案体验陈旧，保险核心、理赔、企康、服务等信息分散在多个系统，导致业务员外勤时需要来回切换、重复查询、低效整合。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C750B-65D8-49B0-BD84-25BD206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496FB-DE87-4236-B811-41F1AF25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5+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AB1BD-4853-4E73-A6A6-6652AF7B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系统切换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4C7D2-E707-4C6C-91FD-7E697027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1162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BBE4F-6A3F-4CA2-B0AB-510B09D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910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1.5h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CF4FD-B782-4848-9B8A-7722960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57700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每日耗时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6945F-167A-4057-9184-32AA6CD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改版机会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8D0B4-D7A5-4B00-96A5-68DC275B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把客户信息、经营动作与服务动作集中到移动端客户360，先解决“看不全”，再解决“做不动”。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A9442-C7DE-4517-8419-6024F85C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93370-C8C3-453B-9942-40771B4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3D62F-6864-4E32-9CAE-74BDFE7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业务员调研痛点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3EC03-BDF4-4874-B94E-549832E0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FA2C6-EAB8-4726-AEAE-EA5A714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03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FC012-92F6-4A33-97F2-F6544B12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客户信息分散、碎片化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02DFF-34B4-48B5-B707-BAE53621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纸质笔记、微信记录、个人备忘录并存，基础信息、保单、理赔、服务数据割裂。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9EA7B-3DCA-4933-B97B-9B99B799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E451B-6E03-4AEF-9FDB-C95ADEE6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52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1A9D7-9A88-4709-8A14-E15E9522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客户跟进与经营没重点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2C46D-49DF-4581-ABAD-C10B6894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缺乏待办提醒和回访计划，优质客户容易因遗忘回访而流失，续保与加购商机漏单。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15A6A-F81F-4A9F-BFFB-AA9F7C5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3BAE3-E40D-4E78-A075-899B3400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053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932E27-75F1-4C6E-9132-F426FED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863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业务过程没有沉淀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E3E10A-E9AC-49F3-9CFF-0FE7F34E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339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拜访、投保、服务记录缺乏自动留存，人员变动后客户历史难以追溯，经验无法传承。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AEEB3F-C20D-468C-B0BD-83F26C38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4210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EEF4E-DBAD-4387-B3DC-106DCDE8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4210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FA8CAB-B8D5-4080-9344-CCDEDE3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竞品启示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246007-70EF-499C-90E5-63FBD885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2286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eaf5fe57447c8"/>
          <a:stretch xmlns:a="http://schemas.openxmlformats.org/drawingml/2006/main"/>
        </p:blipFill>
        <p:spPr>
          <a:xfrm xmlns:a="http://schemas.openxmlformats.org/drawingml/2006/main">
            <a:off x="7785459" y="2628900"/>
            <a:ext cx="2031281" cy="18669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ECE34C-B0EE-46E1-B159-8063F04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3525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82efe0812454c"/>
          <a:stretch xmlns:a="http://schemas.openxmlformats.org/drawingml/2006/main"/>
        </p:blipFill>
        <p:spPr>
          <a:xfrm xmlns:a="http://schemas.openxmlformats.org/drawingml/2006/main">
            <a:off x="10333504" y="2628900"/>
            <a:ext cx="878541" cy="18669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E1C84C-51AB-470A-BB92-8822CD4E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24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头部CRM共识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B7C1B-646C-4AC1-9E1D-ED64E2EE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摘要仪表盘 + 分类Tab + 活动时间线，已经成为客户360的主流信息骨架；AI画像分析与下一步行动建议，正在成为体验标配。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CA35DD-910F-4940-B60E-564AE5B0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48300"/>
            <a:ext cx="3581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B6CE8D-2850-4E0A-9E01-89D0BBE8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76875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这不是做一个“信息页”，而是做一个“经营驾驶舱”。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F3BFD6-7F83-4674-B855-9EFEF777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E4AED6-24EF-4766-9E48-78AE384F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Source: 领导评审文字稿.docx + 本地竞品参考截图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6F7E60-A5CB-4454-A1E8-184E1B49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722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15582072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03587-4D54-4203-959B-BD253DBD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0">
            <a:solidFill>
              <a:srgbClr val="FFF9F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94964-5F1E-4B26-82CE-8F3637D2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AE0F9-7C01-4624-B7EE-AE32EDC7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E7451-6247-4C22-B65B-C01348C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PART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0416D-B107-4773-A3A0-5CCB10F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方案不是堆功能，而是围绕经营动线重新组织产品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A74FE-2ED7-464D-A0DD-42DC059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从“看信息”到“做转化”再到“推服务”，三个模块并行推进、互相带动。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A69E8-CA1A-4A92-9021-B586091E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5FD57-BCC9-4A28-AC2F-5D897F81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03 / 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B4C56-8ACF-4194-9F30-75DB7AA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3581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E3472-AAEE-4430-BF50-05EC12F5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581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114B5-69D7-4B9C-AC04-92B3807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6E6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CD8EF-A573-43F7-AC61-46C186C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看信息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0527C-EEA6-4175-98EC-9EA038A3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CDF8A-0044-4760-929B-2F48A7A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聚合基础信息、合作信息、理赔信息、客户洞察、时光轴五大类数据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8429B-8511-410A-9D71-68B972F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580DE-6011-4846-AB6B-84B2EC0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让业务员在一个页面看全客户，不再跨系统拼凑信息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A16AF-DB84-4F98-9161-A7B87882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5BE7E-2E31-4C3A-B48F-0FECEC6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把AI画像、行业分析、风险预警和沟通话术前置到一线场景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914A6-448B-4E1A-BD3A-D8D17419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581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421D0-B84E-42AB-9967-28206606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81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8F774-6EBA-448A-A791-6B683979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B2BE4-8EE7-4E37-BC0C-C06B99CF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做转化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CFAAA-F4F2-4B46-A0EB-6A855F6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D83AC-0039-427A-AD67-4C4C6DC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051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整合续保、加购、B2C转化等销售机会，形成商机看板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B9705-48F5-40EF-8F15-5773ADEA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D494D-6744-46B4-ACF3-9400DA1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718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用雷达图画像和异动预警识别重点客户与重点时点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EC4CA-1F97-49C7-98C1-A5A0256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F7D4A7-0EEC-47E6-AB1D-6994AC3C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385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把客户360从查询工具升级为业务转化入口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E1060-8153-40B4-9A7A-6793E42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3581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D775E-D0A3-43CB-93F2-A96DA54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581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879EA7-7FE1-4213-98C1-655C6FA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086436-6019-4B3A-AE03-7CC6AC7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推服务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A044B-B95B-41C6-AF30-AC72FD9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15E8A1-806D-4A50-AC12-CAC385E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051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打通员工服务、企业服务、服务工具、服务目录四类能力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BE2025-856C-4A6D-BB2A-140302E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FCCE1-697E-43EC-BE49-98D0A539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718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一键转发服务介绍、沉淀拜访纪要、在线发起服务申请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B9BEB5-E81F-4004-A868-5FF97504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FF4F8B-EEDE-4033-96C7-A7511EB1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385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让服务动作更容易被触发，也更容易被追踪和复盘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DF0972-737D-4F4D-B877-9AC34720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1125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53BC66-B46A-438B-B79D-07FCA66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47CFAE-4548-48BD-A0C4-FE856E7B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移动端差异化优势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6A8336-D2A4-44FC-9AA7-FB78F464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6E6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25C9D3-EEE7-45C2-9C6A-E274ADAE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轻量化档案阅览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255A10-B1FB-476B-BE87-1079EED6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快速看、极简查，外勤也能秒级拿到团客核心档案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50D6AA-1AE3-47BF-9EAE-67E5AFE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149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29DE1B-3912-49BE-8D4A-E03AE7E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现场建档与人脉管理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D48838-7BBF-4D0C-86E4-F4575287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95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陌拜、走访、洽谈现场快速建档，维护多关键对接人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837F9-A30C-4EEC-A098-D2CB01E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149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65AFC1-B810-4C32-958E-8626F1F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过程留痕与智能预警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67D4A9-7AC7-46DF-8359-66F373A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95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拜访轨迹、续保节点、招标节点自动提醒，防遗漏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E09A57-6215-45D1-A3C9-BFE9A849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425A9A-1247-4D1F-AF01-8150A77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即时商务触达运营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9741F0-CA02-44E3-9811-58C5D20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95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档案内直接完成沟通、发物料、做维系，动作不断档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B89377-3F84-4794-9F14-7C3DBE1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A1735A-15CE-4AE5-A46C-831481D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Claim: 这次改版的核心是重组经营路径，而不是简单增加模块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5E843D-4259-4D09-B8FE-7913D35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722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2232522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8B509-0668-4BAF-9C44-814D2E6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0">
            <a:solidFill>
              <a:srgbClr val="FFF9F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1E918-7D11-4563-BED1-D3EED56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27A14-E017-49BB-8346-54B37AA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27BD9-F512-4058-A3FD-56B681F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PART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A3388-41EF-4E7B-925B-DB98DDE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客户360要把信息、动作与结果串成闭环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95C06-9A4C-476E-9DE4-9E8F1B9D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每个模块都要落到更快查询、更强转化或更深服务渗透，而不是停留在信息展示。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F464E-AE16-46C0-AEDA-185269B9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A4A46-EC3B-4938-AF47-2FB74354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04 / 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A8DCE-D659-4B84-9F2F-9BFAE1C8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4F9F5-1A12-4C6D-9BE4-E057921B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6E6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153BC-F1A7-421C-BEE7-CD84A19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D2E7F-2403-48AC-A1AC-53EE3494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看信息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9195D-AB7A-46E9-A10E-BCA9BD83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先把客户看清楚，减少切换与寻找。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D9581-AD70-44A4-B847-90E16D86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CE16C-B801-4E0D-BEC1-C24B0B6A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基础信息 / 合作信息 / 理赔信息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EC171-DA4B-47FC-A18D-8AE5ECE2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6A33-0B23-4CA7-9FE7-AFE355B4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AI客户洞察 / 风险预警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3E3A4-DB2D-4044-8696-C14355C9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43B5C-D62A-46F3-8919-3A027D08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拜访、服务、入企时光轴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45715-7016-4ECF-ABD2-D19880F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34EF6-7F89-4367-9211-A2AE920E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AE6F4-A5F1-4576-9E11-18F36C38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05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D98AA-BB05-4533-84A4-6BFF6C7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做转化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165DF-831E-433E-BCA5-C8D97091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再把转化动作嵌入档案内部，避免信息与行动脱节。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25041-6B2C-451E-8EDE-270B5963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E0AF5-43B2-4629-91D6-B8A59A90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04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商机看板 / 续保跟踪 / B2C转化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AC3A4-779E-4F18-911E-D6CB4AB0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5B55D-1BD8-47AD-891C-72FCBF4F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客户价值雷达图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61D3E-24CE-4604-BAC6-AC76377B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53E434-BAE3-43DA-98AC-82C1B9F1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957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续保到期 / 保费异动提醒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C27DA-3DCA-4035-8EB7-22CE664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64689-46E3-44CB-B2C6-F5E1F48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86BCBA-C490-4C39-8BC0-CE8000A8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0545A-E564-4F64-99CF-D4A0C7E4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24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推服务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CBBF5B-0674-48ED-99DF-3A8CB97D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860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最后把服务工具放到触手可及的位置，形成长期经营。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4DBAFE-CFEA-45E1-B5FB-ECF8E0EC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34A393-8767-4840-8AE3-56DA8F4A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员工权益 / 企业服务申请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140E22-F992-4A63-A3CC-409D12F9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0FA73-04BF-4A2E-9976-B7029A4E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一键转发 / 智能纪要 / AI助手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034C4A-8F81-48F6-9206-83F47CCF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60A9AB-74E0-4DE5-8C4D-FAD117F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957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服务SKU在线申请与追踪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4A6FC3-1142-411F-84B1-FB776A5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F9966D-90A0-4B11-A125-41C3CD23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A058CE-7738-49FF-B2BF-67435BF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37A979-A6A0-4224-80D1-3E4D9850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296901-281C-4F01-BD4C-4A12B22F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325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915FA3-CD44-406A-B6FB-B579A8F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0325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E7951F-8FF2-4438-A96F-4D81A6D7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查询效率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F15027-8A70-4405-8E4C-23D09496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从跨系统搜集转为单页获取，减少低价值操作时间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16347D-A552-40A5-9B60-EBF7D7B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816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908D1F-A81E-4A5A-A574-92A99FAB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销售转化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492B5E-4E50-4EF8-B072-7081548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48300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从看信息转为推下一步动作，减少续保与加购漏单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6479D6-DBFA-4DF9-B562-2881F52D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816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93BB90-0259-45A4-9E51-F11011BD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816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服务渗透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14E3D7-ED85-4523-B808-0A72356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48300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从服务信息静态展示转为即时触达与在线申请，增强合作黏性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04C3CF-A4CC-4DF6-B546-A876F8DE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18D2E9-AAF9-4ED1-8DB3-C020F54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Proof object: 用产品系统解释为什么客户360会带来经营效率和业务结果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7A20EF-F705-4B9A-821A-76638B98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722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2050931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C1B41-4C91-4445-B89A-F723FF7A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FFF"/>
          </a:solidFill>
          <a:ln xmlns:a="http://schemas.openxmlformats.org/drawingml/2006/main" w="0">
            <a:solidFill>
              <a:srgbClr val="BFE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C60F-4E27-456D-8574-33A9304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C0485-BB60-459A-AB6D-E375C8B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DC1E4-EA12-49CE-AF63-194CD8A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PART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BE64F-5EC8-45B5-B8F1-E8BA791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目标既看使用提升，也看经营价值外溢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A31AF-B118-42ED-8559-41C446BE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产品目标回答“会不会用”，价值目标回答“用了之后能不能带来结果”。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D8F93-794B-4CB8-A8AB-C19080A5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0F457-2478-4CFF-94EE-54C76A0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05 / 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E35E5-50A8-415A-90E9-410584E4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19C84-89D8-4EE2-A01C-6BB94921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B78E7-19B9-4718-AA22-229C487E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CRM月使用率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7B61C-CBF6-4219-BC8A-DBB2C76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现状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67A98-2B2A-411C-8883-02E1655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51.9%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54645-021A-4E6C-8626-B73FC169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62C65-CDA8-417E-AA65-4E53DAE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CF3D-C467-4E8E-A08F-7DA2613D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60%+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D9C20-BAFC-4DA7-9492-74B860D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AB97A-C32E-41A7-AB15-524302ED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+8.1pp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1C0AF-9AFE-4A67-9B4B-D6BD4E5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提升使用覆盖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F3956-1149-476D-A51B-5FE0F802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E4D7E-8BA3-40FF-9676-B66AFA3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E9A39-7884-4CF3-8493-528E81FA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CRM月人均频次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3F8A1-6EE7-4D0E-82FA-696A420E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现状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877AF-8857-4D31-B5B1-B1B77A9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861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8.8次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A34F7-09BD-4423-B49D-86F21D2F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F42CA-8B38-4009-8E47-5E0695C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目标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6AAD0-9EFE-47E0-8533-0E895058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11次+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24E87-D38E-49B1-B666-AC62E368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814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4F8F2-DB55-4417-BC03-4A35339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4807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+25%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ED7B3-3A9A-45EA-BFF8-070E287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提升使用深度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17B31-8C18-481E-845C-0E731167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E0985-C601-478C-8D93-9888E1A2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E51CC-6C80-4232-8810-C4AE9636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33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团非客户留存率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053ADA-EA27-4435-A5D4-FD6D1755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现状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8BB0A1-4C46-4FA6-A634-6DF87B22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52.5%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F290AF-BACE-4A88-B174-1147C0A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B27EB-5209-4697-8D16-3C2B53E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目标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7329C2-6338-4D73-9E71-4D3BB3A3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55%+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573DA-B70A-48FB-9FE0-1B3C662A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59332F-8E1C-43C2-9EFF-707D6D0C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4807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+2.5pp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B21523-3D8F-483E-9400-668AA4C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提升客户黏性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30A62F-6EA5-4DFF-BDEE-2BC320E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0EE52F-3629-4E2F-94FF-495DE48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495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BC18CD-53F3-42B5-9F37-08B626D4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服务权益使用率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1F5070-51D4-4FB1-943A-AAA6970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现状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0C3D0C-B9CA-4A61-90DB-523C0CE8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43.4%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1855A6-E5CA-4F7B-9133-A6A47E0F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86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2F2B5B-7376-40BB-9EC5-417066F0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146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目标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B7CFA8-773E-475E-AC97-9CD0B19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48%+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E8F69C-56AA-4B29-B0B6-24EF83F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814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9CA9CF-EDDD-4236-8763-235B48BE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4807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+4.6pp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63AFDB-601E-4527-A9A8-B330873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90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提升服务渗透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5B1F3E-6DB1-4648-AEE4-CF9D7EBE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1125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CE9397-47D6-4251-B9A2-68C7A318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8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633307-5447-451C-B47C-CA5F41E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为什么这组指标值得看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FDF107-F3E7-45B5-A870-C213A6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040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月使用率和人均频次，是产品是否真正进入一线工作流的直接信号；留存率和服务权益使用率，则用来验证客户360是否真的推动了持续经营。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65F910-3D3A-4960-AB9F-FD82A388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489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8DA5E9-D343-41EA-BD5E-596E4DE1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产品目标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D0F04A-1D44-438C-84AC-F01B4FA4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4355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把CRM从“偶尔查一下”变成“外勤经营主入口”。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17840C-7E04-435A-BF2E-D0AEB4B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86400"/>
            <a:ext cx="520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638C3D-A342-47AB-98F3-2AD28BF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43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价值目标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BD8B18-2088-4D07-ACC7-5D40ED0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43550"/>
            <a:ext cx="3790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把客户360从信息平台升级为驱动留存、续保和服务触达的平台。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0FA1B1-A8ED-4E42-B0E3-F48D6C8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EE4102-B6CE-49CF-AF90-D8C96119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Source metrics: 领导评审文字稿.docx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5E098F-D948-4AC4-A89A-82247DC2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722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1357918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972B4-371E-4385-903E-B473AFCB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F1039-46BD-424F-8D57-13B5A9C9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0">
            <a:solidFill>
              <a:srgbClr val="FFF4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F6172-D757-48D4-8107-6463D54B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B0827-F39C-46DB-BA04-1B4342F3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8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00CEF-3F62-4875-B322-15015458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体验验证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BDCF5-7030-48BD-A754-A836535B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扫码体验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客户360原型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59CE1-224B-418E-839F-A8F73AB0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D4C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D4CF"/>
                </a:solidFill>
                <a:latin typeface="PingFang SC"/>
                <a:ea typeface="PingFang SC"/>
                <a:cs typeface="PingFang SC"/>
              </a:rPr>
              <a:t>把这套方案从纸面评审推进到真实交互体验，是验证信息层级、转化路径和服务触达是否顺畅的最快方式。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04A33-457D-4B13-A4FC-C93D1F1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9565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438c690da4e82"/>
          <a:stretch xmlns:a="http://schemas.openxmlformats.org/drawingml/2006/main"/>
        </p:blipFill>
        <p:spPr>
          <a:xfrm xmlns:a="http://schemas.openxmlformats.org/drawingml/2006/main">
            <a:off x="1733550" y="3467100"/>
            <a:ext cx="2324100" cy="2324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6009C-8B0E-47B5-A2C9-FA9342C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扫描二维码，进入体验地址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A6F49-F94A-417A-B16B-A088344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24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1188C-2BE3-4B0D-AA25-07232EA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A7373-910F-46B1-8656-885BB38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8102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FCC22-C19B-4466-BF7B-FEF2D0C9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811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这次改版，值得上。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801FC-D57F-4BC4-884C-B89599E6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它解决的不是单点界面问题，而是一线客户经营中“信息看不全、动作推不动、服务接不上”的连续性问题。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1F20F-0F8A-4ECF-A019-A4CA7332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514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78E03-F3E0-496E-B698-A8DC8B43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514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2088B-DF7A-4FC9-8CE5-D98531E4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63A80-D15B-453F-AB64-AAA1CCD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方向明确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FDD93-9444-4C39-906D-651D446C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以客户经营动线重构产品，而不是继续增加碎片模块。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CF0A1-1970-4FFC-8E95-419A46A4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4514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163BB-E6C0-4FA3-84C3-48C149D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514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820F1-841D-4572-8C64-864EF171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A20ED-135F-4A56-A4D4-6CA58138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价值可量化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39747-03BC-406B-8832-E529832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从使用覆盖、使用深度、客户留存到服务渗透，都有明确目标。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FF73B-00A5-40D1-9CB3-7D9EAA4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76800"/>
            <a:ext cx="4514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7BB07-791D-4A38-9AB6-3C806B1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4514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82BC8-E479-44E2-9AFD-F16C82AB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91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01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1BCF4-C094-44CA-9627-C62C4084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91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体验可验证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34553-5BAD-4F58-9C68-5CBD8F63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38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5A54"/>
                </a:solidFill>
                <a:latin typeface="PingFang SC"/>
                <a:ea typeface="PingFang SC"/>
                <a:cs typeface="PingFang SC"/>
              </a:rPr>
              <a:t>二维码可直接承接体验验证，便于快速收集评审意见。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E0B16-C34E-4BCE-A173-D57A0DA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86450"/>
            <a:ext cx="451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CA3EC-31F2-45C3-994A-1B07C5A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8170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1010"/>
                </a:solidFill>
                <a:latin typeface="PingFang SC"/>
                <a:ea typeface="PingFang SC"/>
                <a:cs typeface="PingFang SC"/>
              </a:rPr>
              <a:t>建议：按本次评审方向推进详细设计与验证，尽快把客户360做成移动端经营主入口。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E9AAA2-208A-472D-8697-1E477F8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10101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A2E47-D9C4-42D9-B09B-B619CF50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Deliverable: editable PPTX built with artifact-tool presentation runtime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05C131-7924-418F-87AE-2399794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722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F5A54"/>
                </a:solidFill>
                <a:latin typeface="Avenir Next"/>
                <a:ea typeface="Avenir Next"/>
                <a:cs typeface="Avenir Next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319934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2026-05-10T09:47:26.6700000Z</dcterms:created>
  <dcterms:modified xsi:type="dcterms:W3CDTF">2026-05-10T09:47:26.6700000Z</dcterms:modified>
</coreProperties>
</file>